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"/>
            <a:ext cx="4572000" cy="457200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2FC5E7"/>
            </a:solidFill>
            <a:prstDash val="solid"/>
          </a:ln>
          <a:effectLst>
            <a:outerShdw sx="100000" sy="100000" kx="0" ky="0" algn="bl" rotWithShape="0" blurRad="254000" dist="50800" dir="16200000">
              <a:srgbClr val="2FC5E7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0" y="914400"/>
            <a:ext cx="3657600" cy="3657600"/>
          </a:xfrm>
          <a:prstGeom prst="ellipse">
            <a:avLst/>
          </a:prstGeom>
          <a:solidFill>
            <a:srgbClr val="0D1B2A"/>
          </a:solidFill>
          <a:ln w="10160">
            <a:solidFill>
              <a:srgbClr val="2FC5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</a:rPr>
              <a:t>STRATEGIC TRANSFORMATION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0" y="1828800"/>
            <a:ext cx="914400" cy="45720"/>
          </a:xfrm>
          <a:prstGeom prst="rect">
            <a:avLst>
              <a:gd name="adj" fmla="val 40000"/>
            </a:avLst>
          </a:prstGeom>
          <a:solidFill>
            <a:srgbClr val="2FC5E7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FC5E7"/>
                </a:solidFill>
              </a:rPr>
              <a:t>破局求新、牢筑壁垒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8288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科学客户服务体系思考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AI赋能客服，从"客户找服务"到"服务找客户"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客服产研团队战略汇报  |  2026年战略规划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5120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CRM Customer Service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业务与金科产研团队挑战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42336"/>
          </a:solidFill>
          <a:ln w="12700">
            <a:solidFill>
              <a:srgbClr val="2FC5E7"/>
            </a:solidFill>
            <a:prstDash val="solid"/>
          </a:ln>
          <a:effectLst>
            <a:outerShdw sx="100000" sy="100000" kx="0" ky="0" algn="bl" rotWithShape="0" blurRad="101600" dist="50800" dir="16200000">
              <a:srgbClr val="2FC5E7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5E7"/>
                </a:solidFill>
              </a:rPr>
              <a:t>金科大中台定位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金科作为公司大中台板块，承担着受理各个板块、部门需求的核心职责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017"/>
                </a:solidFill>
              </a:rPr>
              <a:t>核心使命：连接前台业务与后台资源，提供高效、敏捷的能力支撑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5E7"/>
                </a:solidFill>
              </a:rPr>
              <a:t>公司战略要求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公司要求谋求新发展、新变革，不仅是AI技术探索，更是未来业务商业逻辑的根本性变化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5E7"/>
                </a:solidFill>
              </a:rPr>
              <a:t>业务板块压力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通过AI技术重构各块业务领域的展业模式，建立难以复制的新业务壁垒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5E7"/>
                </a:solidFill>
              </a:rPr>
              <a:t>产研团队发展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缺乏质变，难以继续发展，亟需突破瓶颈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过去工作贡献与转型契机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45920"/>
            <a:ext cx="411480" cy="411480"/>
          </a:xfrm>
          <a:prstGeom prst="ellipse">
            <a:avLst/>
          </a:prstGeom>
          <a:solidFill>
            <a:srgbClr val="2FC5E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投资者之家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整体业务开展，构建投资者服务生态体系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371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645920"/>
            <a:ext cx="411480" cy="411480"/>
          </a:xfrm>
          <a:prstGeom prst="ellipse">
            <a:avLst/>
          </a:prstGeom>
          <a:solidFill>
            <a:srgbClr val="2FC5E7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智能客户顾问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小易建议系统，提供智能化投资建议服务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645920"/>
            <a:ext cx="411480" cy="411480"/>
          </a:xfrm>
          <a:prstGeom prst="ellipse">
            <a:avLst/>
          </a:prstGeom>
          <a:solidFill>
            <a:srgbClr val="2FC5E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社区陪伴服务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持续建设陪伴服务体系，增强客户粘性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61120" y="1371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645920"/>
            <a:ext cx="411480" cy="411480"/>
          </a:xfrm>
          <a:prstGeom prst="ellipse">
            <a:avLst/>
          </a:prstGeom>
          <a:solidFill>
            <a:srgbClr val="2FC5E7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业务服务触点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基础设施不断投入，完善全渠道服务网络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服务触点: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电话服务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在线客服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易服务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易陪伴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017"/>
                </a:solidFill>
              </a:rPr>
              <a:t>"想走的更远一点、更超前一点，让团队发展更好一些。"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5212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基于过去积累，把握AI技术机遇，实现从量变到质变的跨越式发展。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从客户找服务到服务找客户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传统模式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客户找服务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被动响应，等待客户需求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16459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C5E7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2FC5E7"/>
            </a:solidFill>
            <a:prstDash val="solid"/>
          </a:ln>
          <a:effectLst>
            <a:outerShdw sx="100000" sy="100000" kx="0" ky="0" algn="bl" rotWithShape="0" blurRad="101600" dist="50800" dir="16200000">
              <a:srgbClr val="2FC5E7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C5E7"/>
                </a:solidFill>
              </a:rPr>
              <a:t>目标方向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5E7"/>
                </a:solidFill>
              </a:rPr>
              <a:t>服务找客户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主动触达，预测客户需求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83280"/>
            <a:ext cx="1097280" cy="228600"/>
          </a:xfrm>
          <a:prstGeom prst="rect">
            <a:avLst/>
          </a:prstGeom>
          <a:solidFill>
            <a:srgbClr val="2FC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核心理念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以客户为中心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聚合客户所有渠道触点数据，利用AI快速分析客户特征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32004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383280"/>
            <a:ext cx="1097280" cy="228600"/>
          </a:xfrm>
          <a:prstGeom prst="rect">
            <a:avLst/>
          </a:prstGeom>
          <a:solidFill>
            <a:srgbClr val="2FC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关键能力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4904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投资旅程分析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206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基于客户投资旅程地图，深度分析不同阶段的核心诉求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2004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383280"/>
            <a:ext cx="1097280" cy="228600"/>
          </a:xfrm>
          <a:prstGeom prst="rect">
            <a:avLst/>
          </a:prstGeom>
          <a:solidFill>
            <a:srgbClr val="2FC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服务策略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关键时点挖掘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206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识别高价值服务关键时刻（MOT），主动提供服务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35440" y="32004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3383280"/>
            <a:ext cx="1097280" cy="228600"/>
          </a:xfrm>
          <a:prstGeom prst="rect">
            <a:avLst/>
          </a:prstGeom>
          <a:solidFill>
            <a:srgbClr val="2FC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服务目标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41832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千人千面服务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18320" y="4206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基于客户画像与行为数据，个性化差异化服务体验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资管机构服务优势分析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05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6858000" cy="256032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5E7"/>
                </a:solidFill>
              </a:rPr>
              <a:t>触点覆盖优势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客户服务领域触点众多，形成全渠道、全场景的服务网络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内部触点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电话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在线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智能客服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易服务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易陪伴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外部触点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互联网社区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内容运营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活动运营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工具服务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137160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数据积累优势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客户画像数据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行为轨迹数据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服务交互数据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投资偏好数据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017"/>
                </a:solidFill>
              </a:rPr>
              <a:t>触点全覆盖+数据深积累，形成难以复制的服务护城河，为AI转型提供独特优势。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服务内容载体与新生代投资者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C5E7"/>
                </a:solidFill>
              </a:rPr>
              <a:t>服务内容载体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产品营销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产品介绍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投资教育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知识普及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宣传策划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品牌传播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投研成果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专业洞察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83680" y="137160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新生代投资者特征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地缘政治敏感 — 关注宏观环境变化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舆情热点追踪 — 快速响应市场热点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Z时代线上习惯 — 偏好数字化交互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监管要求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监管强调以客户为中心，要求金融机构提升服务质量，保护投资者权益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096"/>
                </a:solidFill>
              </a:rPr>
              <a:t>公司战略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公司要求降本增效，通过AI技术提升服务效率，降低运营成本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战略结论与价值主张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07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建立符合未来投资者客户社会属性变化的、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发挥公司已有业务能力优势、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能够构造新业务竞争优势的、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非传统人力模式的客户服务体系。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01752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C5E7"/>
                </a:solidFill>
              </a:rPr>
              <a:t>客户价值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3566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获得感提升 · 个性化服务体验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体验优化 · 全旅程无缝服务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满意度提高 · 主动精准触达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企业价值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3566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品牌认可 · 差异化服务优势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规模增长 · 客户留存提升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降本增效 · AI替代人力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客户需求变化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监管政策推动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业务场景丰富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256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技术能力成熟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AI大脑 — 业务手脚与智慧核心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3931920" cy="3931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2FC5E7"/>
            </a:solidFill>
            <a:prstDash val="solid"/>
          </a:ln>
          <a:effectLst>
            <a:outerShdw sx="100000" sy="100000" kx="0" ky="0" algn="bl" rotWithShape="0" blurRad="190500" dist="50800" dir="16200000">
              <a:srgbClr val="2FC5E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25603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5E7"/>
                </a:solidFill>
              </a:rPr>
              <a:t>AI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FC5E7"/>
                </a:solidFill>
              </a:rPr>
              <a:t>大脑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926080" cy="3200400"/>
          </a:xfrm>
          <a:prstGeom prst="roundRect">
            <a:avLst>
              <a:gd name="adj" fmla="val 3125"/>
            </a:avLst>
          </a:prstGeom>
          <a:solidFill>
            <a:srgbClr val="142336"/>
          </a:solidFill>
          <a:ln w="12700">
            <a:solidFill>
              <a:srgbClr val="2FC5E7"/>
            </a:solidFill>
            <a:prstDash val="solid"/>
          </a:ln>
          <a:effectLst>
            <a:outerShdw sx="100000" sy="100000" kx="0" ky="0" algn="bl" rotWithShape="0" blurRad="101600" dist="50800" dir="16200000">
              <a:srgbClr val="2FC5E7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5E7"/>
                </a:solidFill>
              </a:rPr>
              <a:t>脑干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CSDP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负责基本生命中枢：呼吸、心跳、血压、睡眠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没有它，人无法存活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86800" y="1828800"/>
            <a:ext cx="2926080" cy="3200400"/>
          </a:xfrm>
          <a:prstGeom prst="roundRect">
            <a:avLst>
              <a:gd name="adj" fmla="val 3125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096"/>
                </a:solidFill>
              </a:rPr>
              <a:t>大脑皮层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VMOT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0" y="2743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负责高级神经活动：意识、思维、感知、运动、决策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6968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没有它，人没有自我、思想、认知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54864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脑脊液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5943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数据流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CSDP — 客户综合信息管理（AI大脑脑干）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09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Customer Synthetic Data Platform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数据整合层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统一接入多源异构数据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画像构建层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360度客户画像建模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实时分析层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流式数据实时处理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3544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服务支撑层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API化数据服务能力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C5E7"/>
                </a:solidFill>
              </a:rPr>
              <a:t>13维度客户画像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基础信息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608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资产分布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2064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交易行为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持仓偏好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50976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风险特征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收益表现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2608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渠道偏好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2064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内容偏好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活动参与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50976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服务记录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生命周期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2608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社交属性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2064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预测标签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" y="48463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C5E7"/>
                </a:solidFill>
              </a:rPr>
              <a:t>毫秒级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0584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响应延迟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48463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C5E7"/>
                </a:solidFill>
              </a:rPr>
              <a:t>千万级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66344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日处理量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46720" y="48463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C5E7"/>
                </a:solidFill>
              </a:rPr>
              <a:t>99.9%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32104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可用性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VMOT — 客户高价值MOT服务管理（AI大脑皮层）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Valuable Moment of Truth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"北欧航空公司每年接触1000万名乘客，每位乘客平均接触5位员工，每次15秒，这5000万次"15秒钟的关键时刻"决定了公司未来的成败。"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—— 詹·卡尔森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最初 · 第一印象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最高 · 峰值体验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最终 · 最后印象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关键时刻识别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基于客户旅程地图，识别投资全生命周期中的关键时刻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66160" y="33832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需求预测模型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利用AI算法预测客户需求与行为，提前洞察服务机会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0" y="33832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智能推荐引擎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根据客户画像与场景，智能推荐最优服务策略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235440" y="33832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自动化触发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在关键时刻自动触发服务，实现千人千面精准触达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5303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应用场景: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5303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新客开户引导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首投转化促进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5303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异常波动安抚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0" y="5303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流失客户挽回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策略中心 + 策略挖掘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5E7"/>
                </a:solidFill>
              </a:rPr>
              <a:t>策略全生命周期管理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规则配置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审批流程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灰度发布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效果追踪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A/B测试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137160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四维度外部感知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1. 客户之声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2. 市场舆情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3. 政策变化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4. 行情分析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AI 自动推荐新的 MOT 规则和服务策略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多渠道触达 + 全链路追踪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渠道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日均量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送达率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打开率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转化率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成本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APP推送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50,000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98%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467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3.2%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8755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低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2130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企微消息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60320" y="2130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15,000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0" y="2130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130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35%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2130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8.5%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875520" y="2130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低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2478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短信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2478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30,000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89120" y="2478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99%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2478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2478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1.8%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875520" y="2478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中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2825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邮件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2825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10,000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89120" y="2825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92%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18%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0" y="2825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4.2%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875520" y="2825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AI外呼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6032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2,000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8912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85%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45%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87552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高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5E7"/>
                </a:solidFill>
              </a:rPr>
              <a:t>全链路追踪（8步闭环）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触发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64592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4884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策略匹配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06324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6616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内容生成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8056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合规审查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9788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渠道下发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1812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送达确认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73252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23544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行为追踪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14984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5276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效果归因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合规管控: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286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内容合规审查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频次上限管控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58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敏感时段禁推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14400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客户偏好尊重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系统原型展示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0A38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已完成前端原型开发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5E7"/>
                </a:solidFill>
              </a:rPr>
              <a:t>11个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功能页面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65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5E7"/>
                </a:solidFill>
              </a:rPr>
              <a:t>10位 × 13维度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模拟客户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1965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5E7"/>
                </a:solidFill>
              </a:rPr>
              <a:t>18条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MOT规则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5E7"/>
                </a:solidFill>
              </a:rPr>
              <a:t>8项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服务策略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5E7"/>
                </a:solidFill>
              </a:rPr>
              <a:t>33个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服务任务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12480" y="32004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5E7"/>
                </a:solidFill>
              </a:rPr>
              <a:t>SHA256 + HMAC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认证系统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303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MOT总览看板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5303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AI服务大脑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303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客户360画像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47548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5303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策略画布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方案演示与下一步计划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CSDP客户画像演示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VMOT关键时刻触发演示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0" y="137160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领导决策提意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2FC5E7"/>
            </a:solidFill>
            <a:prstDash val="solid"/>
          </a:ln>
          <a:effectLst>
            <a:outerShdw sx="100000" sy="100000" kx="0" ky="0" algn="bl" rotWithShape="0" blurRad="101600" dist="50800" dir="16200000">
              <a:srgbClr val="2FC5E7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560320"/>
            <a:ext cx="3474720" cy="54864"/>
          </a:xfrm>
          <a:prstGeom prst="rect">
            <a:avLst/>
          </a:prstGeom>
          <a:solidFill>
            <a:srgbClr val="2FC5E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P1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X个月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业务想法打磨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邀请1-2位业务一线骨干，基于生产业务数据信息和原型重构，形成真实想法方案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56032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560320"/>
            <a:ext cx="347472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P2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9496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X个月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MVP构建、试点验证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566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根据公司战略业务方向，使用AI工程计算落地MVP系统，在小范围一线业务试点辅助使用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256032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2560320"/>
            <a:ext cx="347472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P3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3544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3个月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9536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丰富场景、沉淀经验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3566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小范围试点、效果评估优化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548640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577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5E7"/>
                </a:solidFill>
              </a:rPr>
              <a:t>实施原则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5852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快速迭代 · MVP快速验证  |  持续优化 · 数据驱动改进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0" y="548640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5577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风险管控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5852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数据安全保障  |  合规性审查  |  效果监控机制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548640" cy="36576"/>
          </a:xfrm>
          <a:prstGeom prst="rect">
            <a:avLst>
              <a:gd name="adj" fmla="val 50000"/>
            </a:avLst>
          </a:prstGeom>
          <a:solidFill>
            <a:srgbClr val="2FC5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双赢发展与支持需求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C5E7"/>
                </a:solidFill>
              </a:rPr>
              <a:t>客户价值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获得感 · 个性化体验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体验 · 全旅程服务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满意度 · 主动精准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企业价值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品牌 · 差异化优势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规模 · 客户留存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效率 · AI赋能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C5E7"/>
                </a:solidFill>
              </a:rPr>
              <a:t>需要的支持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AI模型资源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486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EFundAI 算力支持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6616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CSDP数据接口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5486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数据接口开放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渠道系统配合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5486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渠道系统改造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3544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423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合规业务指导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8320" y="5486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合规部门指导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4114800"/>
            <a:ext cx="3931920" cy="3931920"/>
          </a:xfrm>
          <a:prstGeom prst="ellipse">
            <a:avLst/>
          </a:prstGeom>
          <a:solidFill>
            <a:srgbClr val="0D1B2A"/>
          </a:solidFill>
          <a:ln w="6350">
            <a:solidFill>
              <a:srgbClr val="2FC5E7"/>
            </a:solidFill>
            <a:prstDash val="solid"/>
          </a:ln>
          <a:effectLst>
            <a:outerShdw sx="100000" sy="100000" kx="0" ky="0" algn="bl" rotWithShape="0" blurRad="381000" dist="50800" dir="16200000">
              <a:srgbClr val="2FC5E7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C5E7"/>
                </a:solidFill>
              </a:rPr>
              <a:t>谢谢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期待开启服务新篇章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212080" y="3840480"/>
            <a:ext cx="1828800" cy="27432"/>
          </a:xfrm>
          <a:prstGeom prst="rect">
            <a:avLst>
              <a:gd name="adj" fmla="val 33333"/>
            </a:avLst>
          </a:prstGeom>
          <a:solidFill>
            <a:srgbClr val="2FC5E7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AI赋能客户服务，从"客户找服务"到"服务找客户"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实现客户价值与企业价值的双赢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易方达基金管理有限公司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破局求新、牢筑壁垒 — 科学客户服务体系思考</dc:title>
  <dc:subject>科学化客户服务体系思考</dc:subject>
  <dc:creator>客服产研团队</dc:creator>
  <cp:lastModifiedBy>客服产研团队</cp:lastModifiedBy>
  <cp:revision>1</cp:revision>
  <dcterms:created xsi:type="dcterms:W3CDTF">2026-04-02T14:46:27Z</dcterms:created>
  <dcterms:modified xsi:type="dcterms:W3CDTF">2026-04-02T14:46:27Z</dcterms:modified>
</cp:coreProperties>
</file>